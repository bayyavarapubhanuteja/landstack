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snapToObjects="1">
      <p:cViewPr varScale="1">
        <p:scale>
          <a:sx n="84" d="100"/>
          <a:sy n="84" d="100"/>
        </p:scale>
        <p:origin x="658" y="8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9/20/2026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9/20/2026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9/20/2026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9/20/2026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9/20/2026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hyperlink" Target="https://www.sciencedirect.com/journal/environmental-modelling-and-software/vol/143/suppl/C" TargetMode="External"/><Relationship Id="rId3" Type="http://schemas.openxmlformats.org/officeDocument/2006/relationships/slide" Target="slide6.xml"/><Relationship Id="rId7" Type="http://schemas.openxmlformats.org/officeDocument/2006/relationships/image" Target="../media/image15.png"/><Relationship Id="rId12"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hyperlink" Target="https://www.sciencedirect.com/journal/urban-climate/vol/53/suppl/C" TargetMode="External"/><Relationship Id="rId5" Type="http://schemas.openxmlformats.org/officeDocument/2006/relationships/image" Target="../media/image13.png"/><Relationship Id="rId10" Type="http://schemas.openxmlformats.org/officeDocument/2006/relationships/hyperlink" Target="http://www.tcpo.gov.in/sites/default/files/TCPO/schemes/SOP-Urban-flooding.pdf" TargetMode="External"/><Relationship Id="rId4" Type="http://schemas.openxmlformats.org/officeDocument/2006/relationships/image" Target="../media/image2.png"/><Relationship Id="rId9" Type="http://schemas.openxmlformats.org/officeDocument/2006/relationships/hyperlink" Target="https://www.sciencedirect.com/journal/sustainable-cities-and-society/vol/137/suppl/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84791" y="1464196"/>
            <a:ext cx="3203509" cy="3426237"/>
          </a:xfrm>
          <a:prstGeom prst="rect">
            <a:avLst/>
          </a:prstGeom>
        </p:spPr>
      </p:pic>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432990" y="1188656"/>
            <a:ext cx="5875142" cy="4521174"/>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Problem Statement ID </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SIH26085</a:t>
            </a: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Problem Statement Title- </a:t>
            </a:r>
            <a:r>
              <a:rPr lang="en-US" dirty="0">
                <a:latin typeface="Arial" panose="020B0604020202020204" pitchFamily="34" charset="0"/>
                <a:cs typeface="Arial" panose="020B0604020202020204" pitchFamily="34" charset="0"/>
              </a:rPr>
              <a:t>Urban Flood Nowcasting System (Drainage and Rainfall Coupling)</a:t>
            </a: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Theme- </a:t>
            </a: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PS Category</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Software</a:t>
            </a: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Team ID-</a:t>
            </a: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Team Name - </a:t>
            </a:r>
            <a:r>
              <a:rPr lang="en-US" dirty="0" err="1">
                <a:latin typeface="Arial" panose="020B0604020202020204" pitchFamily="34" charset="0"/>
                <a:cs typeface="Arial" panose="020B0604020202020204" pitchFamily="34" charset="0"/>
              </a:rPr>
              <a:t>Hexaura</a:t>
            </a:r>
            <a:endParaRPr lang="en-IN"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3" name="Rectangle 12">
            <a:extLst>
              <a:ext uri="{FF2B5EF4-FFF2-40B4-BE49-F238E27FC236}">
                <a16:creationId xmlns:a16="http://schemas.microsoft.com/office/drawing/2014/main" id="{447B280F-D1CE-80C9-ED07-94FA9E854274}"/>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62064" y="-167833"/>
            <a:ext cx="10972800" cy="1143000"/>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Flood Shield AI </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8" name="TextBox 7">
            <a:extLst>
              <a:ext uri="{FF2B5EF4-FFF2-40B4-BE49-F238E27FC236}">
                <a16:creationId xmlns:a16="http://schemas.microsoft.com/office/drawing/2014/main" id="{091D295C-1438-B563-A4A5-89525789094D}"/>
              </a:ext>
            </a:extLst>
          </p:cNvPr>
          <p:cNvSpPr txBox="1"/>
          <p:nvPr/>
        </p:nvSpPr>
        <p:spPr>
          <a:xfrm>
            <a:off x="162064" y="1184573"/>
            <a:ext cx="2045625" cy="461665"/>
          </a:xfrm>
          <a:prstGeom prst="rect">
            <a:avLst/>
          </a:prstGeom>
          <a:noFill/>
        </p:spPr>
        <p:txBody>
          <a:bodyPr wrap="none" rtlCol="0">
            <a:spAutoFit/>
          </a:bodyPr>
          <a:lstStyle/>
          <a:p>
            <a:r>
              <a:rPr lang="en-US" sz="2400" b="1" dirty="0">
                <a:solidFill>
                  <a:schemeClr val="tx2"/>
                </a:solidFill>
              </a:rPr>
              <a:t>The Challenge </a:t>
            </a:r>
          </a:p>
        </p:txBody>
      </p:sp>
      <p:sp>
        <p:nvSpPr>
          <p:cNvPr id="12" name="TextBox 11">
            <a:extLst>
              <a:ext uri="{FF2B5EF4-FFF2-40B4-BE49-F238E27FC236}">
                <a16:creationId xmlns:a16="http://schemas.microsoft.com/office/drawing/2014/main" id="{28FA0567-F427-CD38-FDFA-59A1E6FA894A}"/>
              </a:ext>
            </a:extLst>
          </p:cNvPr>
          <p:cNvSpPr txBox="1"/>
          <p:nvPr/>
        </p:nvSpPr>
        <p:spPr>
          <a:xfrm>
            <a:off x="182998" y="1592386"/>
            <a:ext cx="8293489" cy="830997"/>
          </a:xfrm>
          <a:prstGeom prst="rect">
            <a:avLst/>
          </a:prstGeom>
          <a:noFill/>
        </p:spPr>
        <p:txBody>
          <a:bodyPr wrap="square" rtlCol="0">
            <a:spAutoFit/>
          </a:bodyPr>
          <a:lstStyle/>
          <a:p>
            <a:r>
              <a:rPr lang="en-US" sz="1600" dirty="0"/>
              <a:t>Urban flooding is an annual crisis in Indian cities. Weather forecasts alone cannot predict where streets will flood. Fragmented citizen reports, CCTV, drainage, and historical data make it difficult to identify flood locations, severity, and vulnerable areas—delaying emergency response.</a:t>
            </a:r>
          </a:p>
        </p:txBody>
      </p:sp>
      <p:pic>
        <p:nvPicPr>
          <p:cNvPr id="14" name="Picture 13">
            <a:extLst>
              <a:ext uri="{FF2B5EF4-FFF2-40B4-BE49-F238E27FC236}">
                <a16:creationId xmlns:a16="http://schemas.microsoft.com/office/drawing/2014/main" id="{0669083E-1171-C6E1-CDEA-CC6387E2CF35}"/>
              </a:ext>
            </a:extLst>
          </p:cNvPr>
          <p:cNvPicPr>
            <a:picLocks noChangeAspect="1"/>
          </p:cNvPicPr>
          <p:nvPr/>
        </p:nvPicPr>
        <p:blipFill>
          <a:blip r:embed="rId4"/>
          <a:stretch>
            <a:fillRect/>
          </a:stretch>
        </p:blipFill>
        <p:spPr>
          <a:xfrm>
            <a:off x="0" y="2511667"/>
            <a:ext cx="5001768" cy="1143000"/>
          </a:xfrm>
          <a:prstGeom prst="rect">
            <a:avLst/>
          </a:prstGeom>
        </p:spPr>
      </p:pic>
      <p:pic>
        <p:nvPicPr>
          <p:cNvPr id="16" name="Picture 15">
            <a:extLst>
              <a:ext uri="{FF2B5EF4-FFF2-40B4-BE49-F238E27FC236}">
                <a16:creationId xmlns:a16="http://schemas.microsoft.com/office/drawing/2014/main" id="{492FBCB5-965F-871C-7DA4-4A952A785044}"/>
              </a:ext>
            </a:extLst>
          </p:cNvPr>
          <p:cNvPicPr>
            <a:picLocks noChangeAspect="1"/>
          </p:cNvPicPr>
          <p:nvPr/>
        </p:nvPicPr>
        <p:blipFill>
          <a:blip r:embed="rId5"/>
          <a:stretch>
            <a:fillRect/>
          </a:stretch>
        </p:blipFill>
        <p:spPr>
          <a:xfrm>
            <a:off x="8476488" y="1000284"/>
            <a:ext cx="3715511" cy="5349829"/>
          </a:xfrm>
          <a:prstGeom prst="rect">
            <a:avLst/>
          </a:prstGeom>
        </p:spPr>
      </p:pic>
      <p:sp>
        <p:nvSpPr>
          <p:cNvPr id="18" name="TextBox 17">
            <a:extLst>
              <a:ext uri="{FF2B5EF4-FFF2-40B4-BE49-F238E27FC236}">
                <a16:creationId xmlns:a16="http://schemas.microsoft.com/office/drawing/2014/main" id="{7D17B0FB-6D9E-36B9-A9BF-CCCE4704801D}"/>
              </a:ext>
            </a:extLst>
          </p:cNvPr>
          <p:cNvSpPr txBox="1"/>
          <p:nvPr/>
        </p:nvSpPr>
        <p:spPr>
          <a:xfrm>
            <a:off x="167364" y="3680855"/>
            <a:ext cx="2526076" cy="461665"/>
          </a:xfrm>
          <a:prstGeom prst="rect">
            <a:avLst/>
          </a:prstGeom>
          <a:noFill/>
        </p:spPr>
        <p:txBody>
          <a:bodyPr wrap="none" rtlCol="0">
            <a:spAutoFit/>
          </a:bodyPr>
          <a:lstStyle/>
          <a:p>
            <a:r>
              <a:rPr lang="en-US" sz="2400" b="1" dirty="0">
                <a:solidFill>
                  <a:schemeClr val="tx2"/>
                </a:solidFill>
              </a:rPr>
              <a:t>Proposed Solution</a:t>
            </a:r>
          </a:p>
        </p:txBody>
      </p:sp>
      <p:sp>
        <p:nvSpPr>
          <p:cNvPr id="19" name="TextBox 18">
            <a:extLst>
              <a:ext uri="{FF2B5EF4-FFF2-40B4-BE49-F238E27FC236}">
                <a16:creationId xmlns:a16="http://schemas.microsoft.com/office/drawing/2014/main" id="{3189D37C-EE60-4A18-FA7F-EEC16AC90065}"/>
              </a:ext>
            </a:extLst>
          </p:cNvPr>
          <p:cNvSpPr txBox="1"/>
          <p:nvPr/>
        </p:nvSpPr>
        <p:spPr>
          <a:xfrm>
            <a:off x="182999" y="4208901"/>
            <a:ext cx="5102234" cy="1323439"/>
          </a:xfrm>
          <a:prstGeom prst="rect">
            <a:avLst/>
          </a:prstGeom>
          <a:noFill/>
        </p:spPr>
        <p:txBody>
          <a:bodyPr wrap="square" rtlCol="0">
            <a:spAutoFit/>
          </a:bodyPr>
          <a:lstStyle/>
          <a:p>
            <a:r>
              <a:rPr lang="en-US" sz="1600" b="1" dirty="0"/>
              <a:t>FLOODSHIELD AI</a:t>
            </a:r>
            <a:r>
              <a:rPr lang="en-US" sz="1600" dirty="0"/>
              <a:t> combines </a:t>
            </a:r>
            <a:r>
              <a:rPr lang="en-US" sz="1600" b="1" dirty="0"/>
              <a:t>citizen reports, CCTV, drainage data, historical floods and weather data</a:t>
            </a:r>
            <a:r>
              <a:rPr lang="en-US" sz="1600" dirty="0"/>
              <a:t> to analyze flood hotspots and vulnerable streets, delivering </a:t>
            </a:r>
            <a:r>
              <a:rPr lang="en-US" sz="1600" b="1" dirty="0"/>
              <a:t>street-level predictions, early warnings and safe routes</a:t>
            </a:r>
            <a:r>
              <a:rPr lang="en-US" sz="1600" dirty="0"/>
              <a:t> for faster response.</a:t>
            </a:r>
          </a:p>
        </p:txBody>
      </p:sp>
      <p:pic>
        <p:nvPicPr>
          <p:cNvPr id="21" name="Picture 20">
            <a:extLst>
              <a:ext uri="{FF2B5EF4-FFF2-40B4-BE49-F238E27FC236}">
                <a16:creationId xmlns:a16="http://schemas.microsoft.com/office/drawing/2014/main" id="{75D72545-9E69-4D1E-E228-161CEAC95A03}"/>
              </a:ext>
            </a:extLst>
          </p:cNvPr>
          <p:cNvPicPr>
            <a:picLocks noChangeAspect="1"/>
          </p:cNvPicPr>
          <p:nvPr/>
        </p:nvPicPr>
        <p:blipFill>
          <a:blip r:embed="rId6"/>
          <a:stretch>
            <a:fillRect/>
          </a:stretch>
        </p:blipFill>
        <p:spPr>
          <a:xfrm>
            <a:off x="162064" y="5532340"/>
            <a:ext cx="8195552" cy="754497"/>
          </a:xfrm>
          <a:prstGeom prst="rect">
            <a:avLst/>
          </a:prstGeom>
        </p:spPr>
      </p:pic>
      <p:pic>
        <p:nvPicPr>
          <p:cNvPr id="23" name="Picture 22">
            <a:extLst>
              <a:ext uri="{FF2B5EF4-FFF2-40B4-BE49-F238E27FC236}">
                <a16:creationId xmlns:a16="http://schemas.microsoft.com/office/drawing/2014/main" id="{2ECE3B5B-4E70-6285-78F6-E954C5E54A4D}"/>
              </a:ext>
            </a:extLst>
          </p:cNvPr>
          <p:cNvPicPr>
            <a:picLocks noChangeAspect="1"/>
          </p:cNvPicPr>
          <p:nvPr/>
        </p:nvPicPr>
        <p:blipFill>
          <a:blip r:embed="rId7"/>
          <a:stretch>
            <a:fillRect/>
          </a:stretch>
        </p:blipFill>
        <p:spPr>
          <a:xfrm>
            <a:off x="5042916" y="2605244"/>
            <a:ext cx="3392423" cy="2971800"/>
          </a:xfrm>
          <a:prstGeom prst="rect">
            <a:avLst/>
          </a:prstGeom>
        </p:spPr>
      </p:pic>
      <p:pic>
        <p:nvPicPr>
          <p:cNvPr id="25" name="Picture 24">
            <a:extLst>
              <a:ext uri="{FF2B5EF4-FFF2-40B4-BE49-F238E27FC236}">
                <a16:creationId xmlns:a16="http://schemas.microsoft.com/office/drawing/2014/main" id="{56165749-45B1-EADB-0AD6-27D720851D1C}"/>
              </a:ext>
            </a:extLst>
          </p:cNvPr>
          <p:cNvPicPr>
            <a:picLocks noChangeAspect="1"/>
          </p:cNvPicPr>
          <p:nvPr/>
        </p:nvPicPr>
        <p:blipFill>
          <a:blip r:embed="rId8"/>
          <a:stretch>
            <a:fillRect/>
          </a:stretch>
        </p:blipFill>
        <p:spPr>
          <a:xfrm>
            <a:off x="8476488" y="1006523"/>
            <a:ext cx="3715512" cy="5349830"/>
          </a:xfrm>
          <a:prstGeom prst="rect">
            <a:avLst/>
          </a:prstGeom>
        </p:spPr>
      </p:pic>
      <p:pic>
        <p:nvPicPr>
          <p:cNvPr id="3" name="Picture 2">
            <a:extLst>
              <a:ext uri="{FF2B5EF4-FFF2-40B4-BE49-F238E27FC236}">
                <a16:creationId xmlns:a16="http://schemas.microsoft.com/office/drawing/2014/main" id="{B7B19BB9-CF97-9292-EE74-379A8421A757}"/>
              </a:ext>
            </a:extLst>
          </p:cNvPr>
          <p:cNvPicPr>
            <a:picLocks noChangeAspect="1"/>
          </p:cNvPicPr>
          <p:nvPr/>
        </p:nvPicPr>
        <p:blipFill>
          <a:blip r:embed="rId9"/>
          <a:stretch>
            <a:fillRect/>
          </a:stretch>
        </p:blipFill>
        <p:spPr>
          <a:xfrm>
            <a:off x="71869" y="299875"/>
            <a:ext cx="1970533" cy="7416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A8250C2F-BF1D-59E4-514B-BCBD8CD07EB4}"/>
              </a:ext>
            </a:extLst>
          </p:cNvPr>
          <p:cNvPicPr>
            <a:picLocks noChangeAspect="1"/>
          </p:cNvPicPr>
          <p:nvPr/>
        </p:nvPicPr>
        <p:blipFill>
          <a:blip r:embed="rId4"/>
          <a:stretch>
            <a:fillRect/>
          </a:stretch>
        </p:blipFill>
        <p:spPr>
          <a:xfrm>
            <a:off x="82296" y="1112962"/>
            <a:ext cx="12109703" cy="5105278"/>
          </a:xfrm>
          <a:prstGeom prst="rect">
            <a:avLst/>
          </a:prstGeom>
        </p:spPr>
      </p:pic>
      <p:pic>
        <p:nvPicPr>
          <p:cNvPr id="5" name="Picture 4">
            <a:extLst>
              <a:ext uri="{FF2B5EF4-FFF2-40B4-BE49-F238E27FC236}">
                <a16:creationId xmlns:a16="http://schemas.microsoft.com/office/drawing/2014/main" id="{8232D267-B900-A9A9-AB99-529639707C5D}"/>
              </a:ext>
            </a:extLst>
          </p:cNvPr>
          <p:cNvPicPr>
            <a:picLocks noChangeAspect="1"/>
          </p:cNvPicPr>
          <p:nvPr/>
        </p:nvPicPr>
        <p:blipFill>
          <a:blip r:embed="rId5"/>
          <a:stretch>
            <a:fillRect/>
          </a:stretch>
        </p:blipFill>
        <p:spPr>
          <a:xfrm>
            <a:off x="0" y="184180"/>
            <a:ext cx="2112264" cy="6969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1006501" y="2533653"/>
            <a:ext cx="9385300" cy="1384995"/>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Analysis of the feasibility of the idea</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Potential challenges and risks</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Strategies</a:t>
            </a:r>
            <a:r>
              <a:rPr kumimoji="0" lang="en-US" sz="2800" b="0" i="0" u="none" strike="noStrike" kern="1200" cap="none" spc="0" normalizeH="0" noProof="0" dirty="0">
                <a:ln>
                  <a:noFill/>
                </a:ln>
                <a:solidFill>
                  <a:prstClr val="black"/>
                </a:solidFill>
                <a:effectLst/>
                <a:uLnTx/>
                <a:uFillTx/>
                <a:latin typeface="Arial" pitchFamily="34" charset="0"/>
                <a:ea typeface="ＭＳ Ｐゴシック" pitchFamily="1" charset="-128"/>
                <a:cs typeface="Arial" pitchFamily="34" charset="0"/>
              </a:rPr>
              <a:t> for overcoming these challenges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CA95A727-E60C-19DC-E52F-2C31E166DA53}"/>
              </a:ext>
            </a:extLst>
          </p:cNvPr>
          <p:cNvPicPr>
            <a:picLocks noChangeAspect="1"/>
          </p:cNvPicPr>
          <p:nvPr/>
        </p:nvPicPr>
        <p:blipFill>
          <a:blip r:embed="rId4"/>
          <a:stretch>
            <a:fillRect/>
          </a:stretch>
        </p:blipFill>
        <p:spPr>
          <a:xfrm>
            <a:off x="0" y="1327913"/>
            <a:ext cx="12192000" cy="4991054"/>
          </a:xfrm>
          <a:prstGeom prst="rect">
            <a:avLst/>
          </a:prstGeom>
        </p:spPr>
      </p:pic>
      <p:pic>
        <p:nvPicPr>
          <p:cNvPr id="4" name="Picture 3">
            <a:extLst>
              <a:ext uri="{FF2B5EF4-FFF2-40B4-BE49-F238E27FC236}">
                <a16:creationId xmlns:a16="http://schemas.microsoft.com/office/drawing/2014/main" id="{FCADFBB7-7C56-4C04-2786-280D29B62D71}"/>
              </a:ext>
            </a:extLst>
          </p:cNvPr>
          <p:cNvPicPr>
            <a:picLocks noChangeAspect="1"/>
          </p:cNvPicPr>
          <p:nvPr/>
        </p:nvPicPr>
        <p:blipFill>
          <a:blip r:embed="rId5"/>
          <a:stretch>
            <a:fillRect/>
          </a:stretch>
        </p:blipFill>
        <p:spPr>
          <a:xfrm>
            <a:off x="135350" y="1292118"/>
            <a:ext cx="12056649" cy="5026849"/>
          </a:xfrm>
          <a:prstGeom prst="rect">
            <a:avLst/>
          </a:prstGeom>
        </p:spPr>
      </p:pic>
      <p:pic>
        <p:nvPicPr>
          <p:cNvPr id="8" name="Picture 7">
            <a:extLst>
              <a:ext uri="{FF2B5EF4-FFF2-40B4-BE49-F238E27FC236}">
                <a16:creationId xmlns:a16="http://schemas.microsoft.com/office/drawing/2014/main" id="{0F9048E0-9D71-4806-246F-9BCB45CC3583}"/>
              </a:ext>
            </a:extLst>
          </p:cNvPr>
          <p:cNvPicPr>
            <a:picLocks noChangeAspect="1"/>
          </p:cNvPicPr>
          <p:nvPr/>
        </p:nvPicPr>
        <p:blipFill>
          <a:blip r:embed="rId6"/>
          <a:stretch>
            <a:fillRect/>
          </a:stretch>
        </p:blipFill>
        <p:spPr>
          <a:xfrm>
            <a:off x="0" y="190119"/>
            <a:ext cx="2161895" cy="667512"/>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5CCDF81C-F827-8EB0-C21F-40765D0F7AD2}"/>
              </a:ext>
            </a:extLst>
          </p:cNvPr>
          <p:cNvPicPr>
            <a:picLocks noChangeAspect="1"/>
          </p:cNvPicPr>
          <p:nvPr/>
        </p:nvPicPr>
        <p:blipFill>
          <a:blip r:embed="rId4"/>
          <a:stretch>
            <a:fillRect/>
          </a:stretch>
        </p:blipFill>
        <p:spPr>
          <a:xfrm>
            <a:off x="1" y="1395246"/>
            <a:ext cx="12192000" cy="4991054"/>
          </a:xfrm>
          <a:prstGeom prst="rect">
            <a:avLst/>
          </a:prstGeom>
        </p:spPr>
      </p:pic>
      <p:pic>
        <p:nvPicPr>
          <p:cNvPr id="5" name="Picture 4">
            <a:extLst>
              <a:ext uri="{FF2B5EF4-FFF2-40B4-BE49-F238E27FC236}">
                <a16:creationId xmlns:a16="http://schemas.microsoft.com/office/drawing/2014/main" id="{BC9EB09E-0F6A-1E45-7498-6C5A471FEFCE}"/>
              </a:ext>
            </a:extLst>
          </p:cNvPr>
          <p:cNvPicPr>
            <a:picLocks noChangeAspect="1"/>
          </p:cNvPicPr>
          <p:nvPr/>
        </p:nvPicPr>
        <p:blipFill>
          <a:blip r:embed="rId5"/>
          <a:stretch>
            <a:fillRect/>
          </a:stretch>
        </p:blipFill>
        <p:spPr>
          <a:xfrm>
            <a:off x="1" y="179959"/>
            <a:ext cx="1801368" cy="687832"/>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hlinkClick r:id="rId3" action="ppaction://hlinksldjump"/>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09600" y="2795263"/>
            <a:ext cx="9385300" cy="52322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Details / Links of the reference and research work</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4" name="TextBox 3">
            <a:extLst>
              <a:ext uri="{FF2B5EF4-FFF2-40B4-BE49-F238E27FC236}">
                <a16:creationId xmlns:a16="http://schemas.microsoft.com/office/drawing/2014/main" id="{6887E058-8697-668D-FB31-E33E312A2456}"/>
              </a:ext>
            </a:extLst>
          </p:cNvPr>
          <p:cNvSpPr txBox="1"/>
          <p:nvPr/>
        </p:nvSpPr>
        <p:spPr>
          <a:xfrm>
            <a:off x="3730392" y="4560425"/>
            <a:ext cx="1369157" cy="369332"/>
          </a:xfrm>
          <a:prstGeom prst="rect">
            <a:avLst/>
          </a:prstGeom>
          <a:noFill/>
        </p:spPr>
        <p:txBody>
          <a:bodyPr wrap="none" rtlCol="0">
            <a:spAutoFit/>
          </a:bodyPr>
          <a:lstStyle/>
          <a:p>
            <a:r>
              <a:rPr lang="en-US" dirty="0" err="1"/>
              <a:t>hhnfnnfnlflff</a:t>
            </a:r>
            <a:endParaRPr lang="en-US" dirty="0"/>
          </a:p>
        </p:txBody>
      </p:sp>
      <p:pic>
        <p:nvPicPr>
          <p:cNvPr id="8" name="Picture 7">
            <a:hlinkClick r:id="rId3" action="ppaction://hlinksldjump"/>
            <a:extLst>
              <a:ext uri="{FF2B5EF4-FFF2-40B4-BE49-F238E27FC236}">
                <a16:creationId xmlns:a16="http://schemas.microsoft.com/office/drawing/2014/main" id="{B25F0E24-DB79-C32C-11F4-93B4413CC5C1}"/>
              </a:ext>
            </a:extLst>
          </p:cNvPr>
          <p:cNvPicPr>
            <a:picLocks noChangeAspect="1"/>
          </p:cNvPicPr>
          <p:nvPr/>
        </p:nvPicPr>
        <p:blipFill>
          <a:blip r:embed="rId5"/>
          <a:stretch>
            <a:fillRect/>
          </a:stretch>
        </p:blipFill>
        <p:spPr>
          <a:xfrm>
            <a:off x="49005" y="1263208"/>
            <a:ext cx="12093988" cy="4955259"/>
          </a:xfrm>
          <a:prstGeom prst="rect">
            <a:avLst/>
          </a:prstGeom>
        </p:spPr>
      </p:pic>
      <p:pic>
        <p:nvPicPr>
          <p:cNvPr id="15" name="Picture 14">
            <a:extLst>
              <a:ext uri="{FF2B5EF4-FFF2-40B4-BE49-F238E27FC236}">
                <a16:creationId xmlns:a16="http://schemas.microsoft.com/office/drawing/2014/main" id="{723D70B7-3FFD-6C3F-5AC1-6E1B5C82759E}"/>
              </a:ext>
            </a:extLst>
          </p:cNvPr>
          <p:cNvPicPr>
            <a:picLocks noChangeAspect="1"/>
          </p:cNvPicPr>
          <p:nvPr/>
        </p:nvPicPr>
        <p:blipFill>
          <a:blip r:embed="rId6"/>
          <a:stretch>
            <a:fillRect/>
          </a:stretch>
        </p:blipFill>
        <p:spPr>
          <a:xfrm>
            <a:off x="3586160" y="2476982"/>
            <a:ext cx="2351653" cy="2351653"/>
          </a:xfrm>
          <a:prstGeom prst="rect">
            <a:avLst/>
          </a:prstGeom>
        </p:spPr>
      </p:pic>
      <p:pic>
        <p:nvPicPr>
          <p:cNvPr id="17" name="Picture 16">
            <a:extLst>
              <a:ext uri="{FF2B5EF4-FFF2-40B4-BE49-F238E27FC236}">
                <a16:creationId xmlns:a16="http://schemas.microsoft.com/office/drawing/2014/main" id="{EEB28F25-8AB1-BE09-5B14-3AF6E07B4699}"/>
              </a:ext>
            </a:extLst>
          </p:cNvPr>
          <p:cNvPicPr>
            <a:picLocks noChangeAspect="1"/>
          </p:cNvPicPr>
          <p:nvPr/>
        </p:nvPicPr>
        <p:blipFill>
          <a:blip r:embed="rId7"/>
          <a:stretch>
            <a:fillRect/>
          </a:stretch>
        </p:blipFill>
        <p:spPr>
          <a:xfrm>
            <a:off x="497182" y="2508255"/>
            <a:ext cx="2351652" cy="2337704"/>
          </a:xfrm>
          <a:prstGeom prst="rect">
            <a:avLst/>
          </a:prstGeom>
        </p:spPr>
      </p:pic>
      <p:sp>
        <p:nvSpPr>
          <p:cNvPr id="18" name="TextBox 17">
            <a:hlinkClick r:id="rId3" action="ppaction://hlinksldjump"/>
            <a:extLst>
              <a:ext uri="{FF2B5EF4-FFF2-40B4-BE49-F238E27FC236}">
                <a16:creationId xmlns:a16="http://schemas.microsoft.com/office/drawing/2014/main" id="{4714EBEB-1F33-1546-2120-E814D94B3409}"/>
              </a:ext>
            </a:extLst>
          </p:cNvPr>
          <p:cNvSpPr txBox="1"/>
          <p:nvPr/>
        </p:nvSpPr>
        <p:spPr>
          <a:xfrm>
            <a:off x="254662" y="4929757"/>
            <a:ext cx="2731838" cy="261610"/>
          </a:xfrm>
          <a:prstGeom prst="rect">
            <a:avLst/>
          </a:prstGeom>
          <a:noFill/>
        </p:spPr>
        <p:txBody>
          <a:bodyPr wrap="none" rtlCol="0">
            <a:spAutoFit/>
          </a:bodyPr>
          <a:lstStyle/>
          <a:p>
            <a:r>
              <a:rPr lang="en-US" sz="1100" dirty="0"/>
              <a:t>https://floodshield-web.onrender.com/login</a:t>
            </a:r>
          </a:p>
        </p:txBody>
      </p:sp>
      <p:sp>
        <p:nvSpPr>
          <p:cNvPr id="20" name="TextBox 19">
            <a:hlinkClick r:id="rId3" action="ppaction://hlinksldjump"/>
            <a:extLst>
              <a:ext uri="{FF2B5EF4-FFF2-40B4-BE49-F238E27FC236}">
                <a16:creationId xmlns:a16="http://schemas.microsoft.com/office/drawing/2014/main" id="{9C29B332-E44B-8A60-AB5D-359ED981E230}"/>
              </a:ext>
            </a:extLst>
          </p:cNvPr>
          <p:cNvSpPr txBox="1"/>
          <p:nvPr/>
        </p:nvSpPr>
        <p:spPr>
          <a:xfrm>
            <a:off x="3403188" y="4900493"/>
            <a:ext cx="2951313" cy="369332"/>
          </a:xfrm>
          <a:prstGeom prst="rect">
            <a:avLst/>
          </a:prstGeom>
          <a:noFill/>
        </p:spPr>
        <p:txBody>
          <a:bodyPr wrap="square">
            <a:spAutoFit/>
          </a:bodyPr>
          <a:lstStyle/>
          <a:p>
            <a:r>
              <a:rPr lang="en-US" sz="900" dirty="0"/>
              <a:t>https://github.com/bayyavarapubhanuteja/floodshield-ai.git</a:t>
            </a:r>
          </a:p>
        </p:txBody>
      </p:sp>
      <p:sp>
        <p:nvSpPr>
          <p:cNvPr id="21" name="TextBox 20">
            <a:extLst>
              <a:ext uri="{FF2B5EF4-FFF2-40B4-BE49-F238E27FC236}">
                <a16:creationId xmlns:a16="http://schemas.microsoft.com/office/drawing/2014/main" id="{22A803FE-8E09-256F-BA27-6F4CAF49498B}"/>
              </a:ext>
            </a:extLst>
          </p:cNvPr>
          <p:cNvSpPr txBox="1"/>
          <p:nvPr/>
        </p:nvSpPr>
        <p:spPr>
          <a:xfrm>
            <a:off x="6354501" y="1995044"/>
            <a:ext cx="1399610" cy="1061829"/>
          </a:xfrm>
          <a:prstGeom prst="rect">
            <a:avLst/>
          </a:prstGeom>
          <a:noFill/>
        </p:spPr>
        <p:txBody>
          <a:bodyPr wrap="square" rtlCol="0">
            <a:spAutoFit/>
          </a:bodyPr>
          <a:lstStyle/>
          <a:p>
            <a:r>
              <a:rPr lang="en-US" sz="1050" dirty="0">
                <a:hlinkClick r:id="rId8"/>
              </a:rPr>
              <a:t>Environmental Modelling &amp; Software | Vol 143, September 2021 | ScienceDirect.com by Elsevier</a:t>
            </a:r>
            <a:endParaRPr lang="en-US" sz="1050" dirty="0"/>
          </a:p>
        </p:txBody>
      </p:sp>
      <p:sp>
        <p:nvSpPr>
          <p:cNvPr id="22" name="TextBox 21">
            <a:extLst>
              <a:ext uri="{FF2B5EF4-FFF2-40B4-BE49-F238E27FC236}">
                <a16:creationId xmlns:a16="http://schemas.microsoft.com/office/drawing/2014/main" id="{231F397F-E2A8-DB1B-C135-872AC0E56D07}"/>
              </a:ext>
            </a:extLst>
          </p:cNvPr>
          <p:cNvSpPr txBox="1"/>
          <p:nvPr/>
        </p:nvSpPr>
        <p:spPr>
          <a:xfrm>
            <a:off x="7866529" y="2173132"/>
            <a:ext cx="1399610" cy="830997"/>
          </a:xfrm>
          <a:prstGeom prst="rect">
            <a:avLst/>
          </a:prstGeom>
          <a:noFill/>
        </p:spPr>
        <p:txBody>
          <a:bodyPr wrap="square" rtlCol="0">
            <a:spAutoFit/>
          </a:bodyPr>
          <a:lstStyle/>
          <a:p>
            <a:r>
              <a:rPr lang="en-US" sz="1600" dirty="0"/>
              <a:t>Environmental Modelling &amp; Software</a:t>
            </a:r>
          </a:p>
        </p:txBody>
      </p:sp>
      <p:sp>
        <p:nvSpPr>
          <p:cNvPr id="23" name="TextBox 22">
            <a:extLst>
              <a:ext uri="{FF2B5EF4-FFF2-40B4-BE49-F238E27FC236}">
                <a16:creationId xmlns:a16="http://schemas.microsoft.com/office/drawing/2014/main" id="{88E1DC9D-8DB4-59CC-B827-DC304282DB8A}"/>
              </a:ext>
            </a:extLst>
          </p:cNvPr>
          <p:cNvSpPr txBox="1"/>
          <p:nvPr/>
        </p:nvSpPr>
        <p:spPr>
          <a:xfrm>
            <a:off x="9523112" y="2137168"/>
            <a:ext cx="2362908" cy="954107"/>
          </a:xfrm>
          <a:prstGeom prst="rect">
            <a:avLst/>
          </a:prstGeom>
          <a:noFill/>
        </p:spPr>
        <p:txBody>
          <a:bodyPr wrap="square" rtlCol="0">
            <a:spAutoFit/>
          </a:bodyPr>
          <a:lstStyle/>
          <a:p>
            <a:r>
              <a:rPr lang="en-US" sz="1400" dirty="0"/>
              <a:t>Supports using webcams, social media and citizen-science data for fine-scale urban flood monitoring.</a:t>
            </a:r>
          </a:p>
        </p:txBody>
      </p:sp>
      <p:sp>
        <p:nvSpPr>
          <p:cNvPr id="24" name="TextBox 23">
            <a:extLst>
              <a:ext uri="{FF2B5EF4-FFF2-40B4-BE49-F238E27FC236}">
                <a16:creationId xmlns:a16="http://schemas.microsoft.com/office/drawing/2014/main" id="{0662E832-EE6D-8643-6796-E44E291896F9}"/>
              </a:ext>
            </a:extLst>
          </p:cNvPr>
          <p:cNvSpPr txBox="1"/>
          <p:nvPr/>
        </p:nvSpPr>
        <p:spPr>
          <a:xfrm>
            <a:off x="6354501" y="3172488"/>
            <a:ext cx="1595908" cy="900246"/>
          </a:xfrm>
          <a:prstGeom prst="rect">
            <a:avLst/>
          </a:prstGeom>
          <a:noFill/>
        </p:spPr>
        <p:txBody>
          <a:bodyPr wrap="square" rtlCol="0">
            <a:spAutoFit/>
          </a:bodyPr>
          <a:lstStyle/>
          <a:p>
            <a:r>
              <a:rPr lang="en-US" sz="1050" dirty="0">
                <a:hlinkClick r:id="rId9"/>
              </a:rPr>
              <a:t>Sustainable Cities and Society | Vol 137, 1 February 2026 | ScienceDirect.com by Elsevier</a:t>
            </a:r>
            <a:endParaRPr lang="en-US" sz="1050" dirty="0"/>
          </a:p>
        </p:txBody>
      </p:sp>
      <p:sp>
        <p:nvSpPr>
          <p:cNvPr id="25" name="TextBox 24">
            <a:extLst>
              <a:ext uri="{FF2B5EF4-FFF2-40B4-BE49-F238E27FC236}">
                <a16:creationId xmlns:a16="http://schemas.microsoft.com/office/drawing/2014/main" id="{6F5EF9EE-FB70-2CA3-12A0-F608819A0A17}"/>
              </a:ext>
            </a:extLst>
          </p:cNvPr>
          <p:cNvSpPr txBox="1"/>
          <p:nvPr/>
        </p:nvSpPr>
        <p:spPr>
          <a:xfrm>
            <a:off x="7866529" y="3188883"/>
            <a:ext cx="1399610" cy="830997"/>
          </a:xfrm>
          <a:prstGeom prst="rect">
            <a:avLst/>
          </a:prstGeom>
          <a:noFill/>
        </p:spPr>
        <p:txBody>
          <a:bodyPr wrap="square" rtlCol="0">
            <a:spAutoFit/>
          </a:bodyPr>
          <a:lstStyle/>
          <a:p>
            <a:r>
              <a:rPr lang="en-US" sz="1600" dirty="0"/>
              <a:t>Sustainable Cities and Society</a:t>
            </a:r>
          </a:p>
        </p:txBody>
      </p:sp>
      <p:sp>
        <p:nvSpPr>
          <p:cNvPr id="26" name="TextBox 25">
            <a:extLst>
              <a:ext uri="{FF2B5EF4-FFF2-40B4-BE49-F238E27FC236}">
                <a16:creationId xmlns:a16="http://schemas.microsoft.com/office/drawing/2014/main" id="{34129B5E-86CA-E29C-98A6-7E870E33CB16}"/>
              </a:ext>
            </a:extLst>
          </p:cNvPr>
          <p:cNvSpPr txBox="1"/>
          <p:nvPr/>
        </p:nvSpPr>
        <p:spPr>
          <a:xfrm>
            <a:off x="9500015" y="3143040"/>
            <a:ext cx="2351653" cy="954107"/>
          </a:xfrm>
          <a:prstGeom prst="rect">
            <a:avLst/>
          </a:prstGeom>
          <a:noFill/>
        </p:spPr>
        <p:txBody>
          <a:bodyPr wrap="square" rtlCol="0">
            <a:spAutoFit/>
          </a:bodyPr>
          <a:lstStyle/>
          <a:p>
            <a:r>
              <a:rPr lang="en-US" sz="1400" dirty="0"/>
              <a:t>Supports combining ML and geospatial/SAR data for urban flood-risk mapping and infrastructure planning</a:t>
            </a:r>
            <a:r>
              <a:rPr lang="en-US" sz="1200" dirty="0"/>
              <a:t>.</a:t>
            </a:r>
          </a:p>
        </p:txBody>
      </p:sp>
      <p:sp>
        <p:nvSpPr>
          <p:cNvPr id="27" name="TextBox 26">
            <a:extLst>
              <a:ext uri="{FF2B5EF4-FFF2-40B4-BE49-F238E27FC236}">
                <a16:creationId xmlns:a16="http://schemas.microsoft.com/office/drawing/2014/main" id="{643DBA67-287A-DC1C-807B-45A1B0A732FD}"/>
              </a:ext>
            </a:extLst>
          </p:cNvPr>
          <p:cNvSpPr txBox="1"/>
          <p:nvPr/>
        </p:nvSpPr>
        <p:spPr>
          <a:xfrm>
            <a:off x="6411036" y="4317515"/>
            <a:ext cx="1243584" cy="461665"/>
          </a:xfrm>
          <a:prstGeom prst="rect">
            <a:avLst/>
          </a:prstGeom>
          <a:noFill/>
        </p:spPr>
        <p:txBody>
          <a:bodyPr wrap="square" rtlCol="0">
            <a:spAutoFit/>
          </a:bodyPr>
          <a:lstStyle/>
          <a:p>
            <a:r>
              <a:rPr lang="en-US" sz="1200" dirty="0">
                <a:hlinkClick r:id="rId10"/>
              </a:rPr>
              <a:t>SOP-Urban-flooding.pdf</a:t>
            </a:r>
            <a:endParaRPr lang="en-US" sz="1200" dirty="0"/>
          </a:p>
        </p:txBody>
      </p:sp>
      <p:sp>
        <p:nvSpPr>
          <p:cNvPr id="28" name="TextBox 27">
            <a:extLst>
              <a:ext uri="{FF2B5EF4-FFF2-40B4-BE49-F238E27FC236}">
                <a16:creationId xmlns:a16="http://schemas.microsoft.com/office/drawing/2014/main" id="{0FD4D4D6-D7CD-83DC-7344-29447B389F11}"/>
              </a:ext>
            </a:extLst>
          </p:cNvPr>
          <p:cNvSpPr txBox="1"/>
          <p:nvPr/>
        </p:nvSpPr>
        <p:spPr>
          <a:xfrm>
            <a:off x="7823318" y="4146815"/>
            <a:ext cx="1595907" cy="830997"/>
          </a:xfrm>
          <a:prstGeom prst="rect">
            <a:avLst/>
          </a:prstGeom>
          <a:noFill/>
        </p:spPr>
        <p:txBody>
          <a:bodyPr wrap="square" rtlCol="0">
            <a:spAutoFit/>
          </a:bodyPr>
          <a:lstStyle/>
          <a:p>
            <a:r>
              <a:rPr lang="en-US" sz="1600" dirty="0"/>
              <a:t>Urban Flooding During Monsoon Season</a:t>
            </a:r>
          </a:p>
        </p:txBody>
      </p:sp>
      <p:sp>
        <p:nvSpPr>
          <p:cNvPr id="35" name="TextBox 34">
            <a:extLst>
              <a:ext uri="{FF2B5EF4-FFF2-40B4-BE49-F238E27FC236}">
                <a16:creationId xmlns:a16="http://schemas.microsoft.com/office/drawing/2014/main" id="{F10E46C5-A41A-59AE-9320-F1634C92B57D}"/>
              </a:ext>
            </a:extLst>
          </p:cNvPr>
          <p:cNvSpPr txBox="1"/>
          <p:nvPr/>
        </p:nvSpPr>
        <p:spPr>
          <a:xfrm>
            <a:off x="9474967" y="4146815"/>
            <a:ext cx="2489811" cy="954107"/>
          </a:xfrm>
          <a:prstGeom prst="rect">
            <a:avLst/>
          </a:prstGeom>
          <a:noFill/>
        </p:spPr>
        <p:txBody>
          <a:bodyPr wrap="square" rtlCol="0">
            <a:spAutoFit/>
          </a:bodyPr>
          <a:lstStyle/>
          <a:p>
            <a:r>
              <a:rPr lang="en-US" sz="1400" dirty="0"/>
              <a:t>Provides the Indian government context on urban drainage, flood mitigation and the role of Urban Local Bodies</a:t>
            </a:r>
          </a:p>
        </p:txBody>
      </p:sp>
      <p:sp>
        <p:nvSpPr>
          <p:cNvPr id="36" name="TextBox 35">
            <a:extLst>
              <a:ext uri="{FF2B5EF4-FFF2-40B4-BE49-F238E27FC236}">
                <a16:creationId xmlns:a16="http://schemas.microsoft.com/office/drawing/2014/main" id="{7CA0A6AC-F35B-2D79-A074-070E3365D2D5}"/>
              </a:ext>
            </a:extLst>
          </p:cNvPr>
          <p:cNvSpPr txBox="1"/>
          <p:nvPr/>
        </p:nvSpPr>
        <p:spPr>
          <a:xfrm>
            <a:off x="6410243" y="5100922"/>
            <a:ext cx="1343075" cy="769441"/>
          </a:xfrm>
          <a:prstGeom prst="rect">
            <a:avLst/>
          </a:prstGeom>
          <a:noFill/>
        </p:spPr>
        <p:txBody>
          <a:bodyPr wrap="square" rtlCol="0">
            <a:spAutoFit/>
          </a:bodyPr>
          <a:lstStyle/>
          <a:p>
            <a:r>
              <a:rPr lang="en-US" sz="1100" dirty="0">
                <a:hlinkClick r:id="rId11"/>
              </a:rPr>
              <a:t>Urban Climate | Vol 53, January 2024 | ScienceDirect.com by Elsevier</a:t>
            </a:r>
            <a:endParaRPr lang="en-US" sz="1100" dirty="0"/>
          </a:p>
        </p:txBody>
      </p:sp>
      <p:sp>
        <p:nvSpPr>
          <p:cNvPr id="37" name="TextBox 36">
            <a:extLst>
              <a:ext uri="{FF2B5EF4-FFF2-40B4-BE49-F238E27FC236}">
                <a16:creationId xmlns:a16="http://schemas.microsoft.com/office/drawing/2014/main" id="{741D6FE1-6608-3936-D67D-4DCE83521924}"/>
              </a:ext>
            </a:extLst>
          </p:cNvPr>
          <p:cNvSpPr txBox="1"/>
          <p:nvPr/>
        </p:nvSpPr>
        <p:spPr>
          <a:xfrm>
            <a:off x="7753318" y="5042314"/>
            <a:ext cx="1891160" cy="830997"/>
          </a:xfrm>
          <a:prstGeom prst="rect">
            <a:avLst/>
          </a:prstGeom>
          <a:noFill/>
        </p:spPr>
        <p:txBody>
          <a:bodyPr wrap="square" rtlCol="0">
            <a:spAutoFit/>
          </a:bodyPr>
          <a:lstStyle/>
          <a:p>
            <a:r>
              <a:rPr lang="en-US" sz="1600" dirty="0"/>
              <a:t>Floods recent years with crowdsourced data</a:t>
            </a:r>
          </a:p>
        </p:txBody>
      </p:sp>
      <p:sp>
        <p:nvSpPr>
          <p:cNvPr id="38" name="TextBox 37">
            <a:extLst>
              <a:ext uri="{FF2B5EF4-FFF2-40B4-BE49-F238E27FC236}">
                <a16:creationId xmlns:a16="http://schemas.microsoft.com/office/drawing/2014/main" id="{A02050A9-C41D-57CC-B9B3-9FEEBFEE2025}"/>
              </a:ext>
            </a:extLst>
          </p:cNvPr>
          <p:cNvSpPr txBox="1"/>
          <p:nvPr/>
        </p:nvSpPr>
        <p:spPr>
          <a:xfrm>
            <a:off x="9499923" y="4999162"/>
            <a:ext cx="2489811" cy="830997"/>
          </a:xfrm>
          <a:prstGeom prst="rect">
            <a:avLst/>
          </a:prstGeom>
          <a:noFill/>
        </p:spPr>
        <p:txBody>
          <a:bodyPr wrap="square" rtlCol="0">
            <a:spAutoFit/>
          </a:bodyPr>
          <a:lstStyle/>
          <a:p>
            <a:r>
              <a:rPr lang="en-US" sz="1200" dirty="0"/>
              <a:t>Directly supports your </a:t>
            </a:r>
            <a:r>
              <a:rPr lang="en-US" sz="1200" b="1" dirty="0"/>
              <a:t>citizen/crowdsourced flood-data</a:t>
            </a:r>
            <a:r>
              <a:rPr lang="en-US" sz="1200" dirty="0"/>
              <a:t> approach and its combination with rainfall and elevation information.</a:t>
            </a:r>
          </a:p>
        </p:txBody>
      </p:sp>
      <p:pic>
        <p:nvPicPr>
          <p:cNvPr id="40" name="Picture 39">
            <a:extLst>
              <a:ext uri="{FF2B5EF4-FFF2-40B4-BE49-F238E27FC236}">
                <a16:creationId xmlns:a16="http://schemas.microsoft.com/office/drawing/2014/main" id="{47A9BA42-91FF-CA47-D4FE-E9C9750A339C}"/>
              </a:ext>
            </a:extLst>
          </p:cNvPr>
          <p:cNvPicPr>
            <a:picLocks noChangeAspect="1"/>
          </p:cNvPicPr>
          <p:nvPr/>
        </p:nvPicPr>
        <p:blipFill>
          <a:blip r:embed="rId12"/>
          <a:stretch>
            <a:fillRect/>
          </a:stretch>
        </p:blipFill>
        <p:spPr>
          <a:xfrm>
            <a:off x="24979" y="256208"/>
            <a:ext cx="1926887" cy="593332"/>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8443</TotalTime>
  <Words>328</Words>
  <Application>Microsoft Office PowerPoint</Application>
  <PresentationFormat>Widescreen</PresentationFormat>
  <Paragraphs>46</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2026</vt:lpstr>
      <vt:lpstr> Flood Shield AI </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rohit kumar</cp:lastModifiedBy>
  <cp:revision>153</cp:revision>
  <dcterms:created xsi:type="dcterms:W3CDTF">2013-12-12T18:46:50Z</dcterms:created>
  <dcterms:modified xsi:type="dcterms:W3CDTF">2026-09-20T17:46:49Z</dcterms:modified>
  <cp:category/>
</cp:coreProperties>
</file>